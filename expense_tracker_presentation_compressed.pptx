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Outfit Extra Bold"/>
      <p:regular r:id="rId22"/>
    </p:embeddedFont>
    <p:embeddedFont>
      <p:font typeface="Arimo"/>
      <p:regular r:id="rId23"/>
    </p:embeddedFont>
    <p:embeddedFont>
      <p:font typeface="Arimo"/>
      <p:regular r:id="rId24"/>
    </p:embeddedFont>
    <p:embeddedFont>
      <p:font typeface="Arimo"/>
      <p:regular r:id="rId25"/>
    </p:embeddedFont>
    <p:embeddedFont>
      <p:font typeface="Arimo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5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184672"/>
            <a:ext cx="2331006" cy="373142"/>
          </a:xfrm>
          <a:prstGeom prst="roundRect">
            <a:avLst>
              <a:gd name="adj" fmla="val 17872"/>
            </a:avLst>
          </a:prstGeom>
          <a:solidFill>
            <a:srgbClr val="D7D2F9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1244203"/>
            <a:ext cx="209288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ACADEMIC PRESENTATION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637109"/>
            <a:ext cx="669345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Expense Tracker Automation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2554843"/>
            <a:ext cx="7556421" cy="171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n8n + Google Forms + Google Sheets</a:t>
            </a:r>
            <a:endParaRPr lang="en-US" sz="5350" dirty="0"/>
          </a:p>
        </p:txBody>
      </p:sp>
      <p:sp>
        <p:nvSpPr>
          <p:cNvPr id="7" name="Text 4"/>
          <p:cNvSpPr/>
          <p:nvPr/>
        </p:nvSpPr>
        <p:spPr>
          <a:xfrm>
            <a:off x="793790" y="456414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Devansh      2520982555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10492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Sidharth       2520982733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64570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Divyam         2520982563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618648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Aastha          2520982504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3790" y="6727269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Himanshu     2520982593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09819"/>
            <a:ext cx="2011204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1476970"/>
            <a:ext cx="175783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77497"/>
            <a:ext cx="1191922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Manual Expense Process: A Business Bottleneck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79523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Most organizations still rely on paper-based or spreadsheet-only expense reporting — a process that is slow, error-prone, and difficult to audit. Without automation, finance teams lose hours every week on repetitive data handling instead of strategic analysis.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653552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768" y="3859530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⏱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Delays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9768" y="429637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approvals and data entry create bottlenecks, delaying reimbursements by days or weeks.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653552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859530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❌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Errors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0357" y="429637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Human mistakes in data entry lead to incorrect expense records and financial discrepancies.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335786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9768" y="5541764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📂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Missing Records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9768" y="597860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Paper receipts and untracked submissions result in lost documentation and audit gaps.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5335786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357" y="5541764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🔍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No Visibility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20357" y="597860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Finance teams lack real-time insight into spending patterns, making budget control nearly impossible.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0568" y="471130"/>
            <a:ext cx="1432322" cy="242411"/>
          </a:xfrm>
          <a:prstGeom prst="roundRect">
            <a:avLst>
              <a:gd name="adj" fmla="val 19773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1776055" y="513874"/>
            <a:ext cx="1261348" cy="156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90568" y="754499"/>
            <a:ext cx="8587145" cy="4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Automated Expense Tracker: End-to-End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90568" y="1353860"/>
            <a:ext cx="1124914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proposed system replaces the entire manual process with a fully automated pipeline. Employees submit expenses via a Google Form, data is stored in Google Sheets, and n8n automatically processes, categorizes, and notifies the finance team — all without human intervention.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710" y="1861304"/>
            <a:ext cx="10888861" cy="408598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9904" y="2902078"/>
            <a:ext cx="562452" cy="5624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68795" y="4797190"/>
            <a:ext cx="1642359" cy="63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Notify Finance</a:t>
            </a:r>
            <a:endParaRPr lang="en-US" sz="1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0802" y="2903133"/>
            <a:ext cx="562453" cy="5624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98971" y="4955380"/>
            <a:ext cx="1642360" cy="31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Categorize</a:t>
            </a:r>
            <a:endParaRPr lang="en-US" sz="1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52228" y="2903133"/>
            <a:ext cx="562452" cy="5624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40397" y="4955380"/>
            <a:ext cx="1642360" cy="31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n8n Trigger</a:t>
            </a:r>
            <a:endParaRPr lang="en-US" sz="1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3653" y="2903133"/>
            <a:ext cx="562452" cy="5624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81822" y="4955380"/>
            <a:ext cx="1642360" cy="31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Store Sheet</a:t>
            </a:r>
            <a:endParaRPr lang="en-US" sz="1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3829" y="2903133"/>
            <a:ext cx="562452" cy="56245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378251" y="4955380"/>
            <a:ext cx="1642360" cy="31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Submit Form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1690568" y="6062543"/>
            <a:ext cx="1124914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pipeline ensures every expense submission is captured, validated, categorized, and communicated in seconds — enabling finance teams to focus on decision-making rather than data entry.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1690568" y="6569988"/>
            <a:ext cx="3681293" cy="1188363"/>
          </a:xfrm>
          <a:prstGeom prst="roundRect">
            <a:avLst>
              <a:gd name="adj" fmla="val 6156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1675328" y="6569988"/>
            <a:ext cx="60960" cy="1188363"/>
          </a:xfrm>
          <a:prstGeom prst="roundRect">
            <a:avLst>
              <a:gd name="adj" fmla="val 98285"/>
            </a:avLst>
          </a:prstGeom>
          <a:solidFill>
            <a:srgbClr val="5E4CE6"/>
          </a:solidFill>
          <a:ln/>
        </p:spPr>
      </p:sp>
      <p:sp>
        <p:nvSpPr>
          <p:cNvPr id="20" name="Text 12"/>
          <p:cNvSpPr/>
          <p:nvPr/>
        </p:nvSpPr>
        <p:spPr>
          <a:xfrm>
            <a:off x="1894165" y="6727865"/>
            <a:ext cx="1798677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Real-Time Processing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1894165" y="7012186"/>
            <a:ext cx="331982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submission is processed instantly — no waiting for batch updates or manual review cycles.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5474375" y="6569988"/>
            <a:ext cx="3681413" cy="1188363"/>
          </a:xfrm>
          <a:prstGeom prst="roundRect">
            <a:avLst>
              <a:gd name="adj" fmla="val 6156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5459135" y="6569988"/>
            <a:ext cx="60960" cy="1188363"/>
          </a:xfrm>
          <a:prstGeom prst="roundRect">
            <a:avLst>
              <a:gd name="adj" fmla="val 98285"/>
            </a:avLst>
          </a:prstGeom>
          <a:solidFill>
            <a:srgbClr val="5E4CE6"/>
          </a:solidFill>
          <a:ln/>
        </p:spPr>
      </p:sp>
      <p:sp>
        <p:nvSpPr>
          <p:cNvPr id="24" name="Text 16"/>
          <p:cNvSpPr/>
          <p:nvPr/>
        </p:nvSpPr>
        <p:spPr>
          <a:xfrm>
            <a:off x="5677972" y="6727865"/>
            <a:ext cx="1783080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Fully Automated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5677972" y="7012186"/>
            <a:ext cx="3319939" cy="58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n8n orchestrates the entire flow: triggers, logic, data transformation, and email delivery — zero manual steps.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9258300" y="6569988"/>
            <a:ext cx="3681413" cy="1188363"/>
          </a:xfrm>
          <a:prstGeom prst="roundRect">
            <a:avLst>
              <a:gd name="adj" fmla="val 6156"/>
            </a:avLst>
          </a:prstGeom>
          <a:solidFill>
            <a:srgbClr val="FAFAFA">
              <a:alpha val="95000"/>
            </a:srgbClr>
          </a:solidFill>
          <a:ln w="15240">
            <a:solidFill>
              <a:srgbClr val="BDB8DF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243060" y="6569988"/>
            <a:ext cx="60960" cy="1188363"/>
          </a:xfrm>
          <a:prstGeom prst="roundRect">
            <a:avLst>
              <a:gd name="adj" fmla="val 98285"/>
            </a:avLst>
          </a:prstGeom>
          <a:solidFill>
            <a:srgbClr val="5E4CE6"/>
          </a:solidFill>
          <a:ln/>
        </p:spPr>
      </p:sp>
      <p:sp>
        <p:nvSpPr>
          <p:cNvPr id="28" name="Text 20"/>
          <p:cNvSpPr/>
          <p:nvPr/>
        </p:nvSpPr>
        <p:spPr>
          <a:xfrm>
            <a:off x="9461897" y="6727865"/>
            <a:ext cx="1783080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Centralized System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9461897" y="7012186"/>
            <a:ext cx="3319939" cy="58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 expense data lives in a single Google Sheet, creating a unified, auditable record for the entire organization.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698659"/>
            <a:ext cx="1784747" cy="357426"/>
          </a:xfrm>
          <a:prstGeom prst="roundRect">
            <a:avLst>
              <a:gd name="adj" fmla="val 18075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884277" y="756285"/>
            <a:ext cx="1554242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WORKFLOW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9025" y="1130498"/>
            <a:ext cx="5452586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Step-by-Step Data Flow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69025" y="2010608"/>
            <a:ext cx="1309235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stage of the workflow is designed for reliability and transparency. Below is a detailed breakdown of how data moves from submission to notification.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2732246"/>
            <a:ext cx="2539127" cy="45892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95725" y="270902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3895725" y="3083838"/>
            <a:ext cx="3845362" cy="480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Form Submission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895725" y="3750707"/>
            <a:ext cx="997315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Employee fills out a structured Google Form with fields: Name, Department, Expense Type, Amount, and Remarks from raw form data into a structured object for downstream processing.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5408"/>
            <a:ext cx="7632025" cy="3598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17543" y="22905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2.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8917543" y="26799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Storage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917543" y="3188494"/>
            <a:ext cx="49265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Google Forms automatically appends each submission as a new row in the linked Google Sheet — timestamped and organized.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62977"/>
            <a:ext cx="5873472" cy="25035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8990" y="28380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3.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158990" y="32275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n8n Trigger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158990" y="3736062"/>
            <a:ext cx="66851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n8n's Google Sheets trigger node detects the new row in real time and initiates the workflow automatically.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207413"/>
            <a:ext cx="10337363" cy="58146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2881" y="1182529"/>
            <a:ext cx="22212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4.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1622881" y="1571982"/>
            <a:ext cx="222123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Processing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1622881" y="2080498"/>
            <a:ext cx="222123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Set Node maps and formats raw form data into a structured object for downstream processing.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524833"/>
            <a:ext cx="6279356" cy="51798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4874" y="14999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5.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564874" y="18894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Conditional Logic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564874" y="239791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If Node evaluates the expense amount: above ₹5,000 is flagged as "High Expense"; below is "Normal Expense."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488758"/>
            <a:ext cx="5061823" cy="52520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7341" y="14638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6.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347341" y="18533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Email Output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47341" y="2361843"/>
            <a:ext cx="749677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Gmail Node sends a formatted alert to the finance team with expense details and category classification.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758" y="503158"/>
            <a:ext cx="1159431" cy="334685"/>
          </a:xfrm>
          <a:prstGeom prst="roundRect">
            <a:avLst>
              <a:gd name="adj" fmla="val 18369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841534" y="558046"/>
            <a:ext cx="939879" cy="22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TOOLS USED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758" y="905232"/>
            <a:ext cx="5887641" cy="571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Technology Stack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758" y="1729978"/>
            <a:ext cx="13166884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automation leverages a lightweight, no-code stack that is free to use, easy to configure, and enterprise-ready. Each tool plays a specific role in the pipeline.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758" y="2200989"/>
            <a:ext cx="457319" cy="457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758" y="2869049"/>
            <a:ext cx="228707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Google Forms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758" y="3256121"/>
            <a:ext cx="6478072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Captures structured expense submissions from employees. Fields include Name, Department, Expense Type, and Amount.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0570" y="2200989"/>
            <a:ext cx="457319" cy="4573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0570" y="2869049"/>
            <a:ext cx="228707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Google Sheets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20570" y="3256121"/>
            <a:ext cx="6478072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Acts as the centralized database. Stores all submissions with auto-generated timestamps for audit trails.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758" y="4156115"/>
            <a:ext cx="457319" cy="4573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758" y="4824174"/>
            <a:ext cx="228707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n8n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31758" y="5211247"/>
            <a:ext cx="6478072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Open-source workflow automation platform. Orchestrates triggers, logic, data transformation, and notifications.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0570" y="4156115"/>
            <a:ext cx="457319" cy="4573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20570" y="4824174"/>
            <a:ext cx="228707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Gmail Node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7420570" y="5211247"/>
            <a:ext cx="6478072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Sends automated email alerts to the finance team with formatted expense details and category classification.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758" y="6111240"/>
            <a:ext cx="457319" cy="4573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1758" y="6779300"/>
            <a:ext cx="228707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Set Node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731758" y="7166372"/>
            <a:ext cx="6478072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Maps and renames raw form fields into clean, structured data objects for consistent downstream processing.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20570" y="6111240"/>
            <a:ext cx="457319" cy="45731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20570" y="6779300"/>
            <a:ext cx="2287072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If Node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7420570" y="7166372"/>
            <a:ext cx="6478072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Applies the core finance rule: evaluates whether expense amount is above or below the ₹5,000 threshold.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599480"/>
            <a:ext cx="1426250" cy="357426"/>
          </a:xfrm>
          <a:prstGeom prst="roundRect">
            <a:avLst>
              <a:gd name="adj" fmla="val 18075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884277" y="657106"/>
            <a:ext cx="1195745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FINANCE LOGIC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9025" y="1166336"/>
            <a:ext cx="1309235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9025" y="1748433"/>
            <a:ext cx="10226516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 Automation Rule: Expense Classification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769025" y="2628543"/>
            <a:ext cx="13092351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heart of this automation is a simple but powerful finance rule embedded in the n8n If Node. Every expense is automatically classified based on a predefined threshold, enabling instant prioritization for the finance team.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555" y="3443526"/>
            <a:ext cx="6588562" cy="1916192"/>
          </a:xfrm>
          <a:prstGeom prst="roundRect">
            <a:avLst>
              <a:gd name="adj" fmla="val 7225"/>
            </a:avLst>
          </a:prstGeom>
          <a:solidFill>
            <a:srgbClr val="5E4CE6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722" y="362973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High Expense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22722" y="4116348"/>
            <a:ext cx="6204228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Condition: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Expense Amount &gt; ₹5,000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722" y="4586645"/>
            <a:ext cx="6204228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Flagged for immediate review. Finance team receives an urgent alert with full expense details for priority approval.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57373" y="3629739"/>
            <a:ext cx="240339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Normal Expense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57373" y="4116348"/>
            <a:ext cx="631162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Condition: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Expense Amount ≤ ₹5,000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57373" y="4586645"/>
            <a:ext cx="6311622" cy="60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Logged automatically. Finance team receives a standard notification for routine record-keeping and monthly reconciliation.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9025" y="5569148"/>
            <a:ext cx="6453068" cy="2060853"/>
          </a:xfrm>
          <a:prstGeom prst="roundRect">
            <a:avLst>
              <a:gd name="adj" fmla="val 5324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6165" y="5569148"/>
            <a:ext cx="91440" cy="2060853"/>
          </a:xfrm>
          <a:prstGeom prst="roundRect">
            <a:avLst>
              <a:gd name="adj" fmla="val 88314"/>
            </a:avLst>
          </a:prstGeom>
          <a:solidFill>
            <a:srgbClr val="5E4CE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2632" y="5784175"/>
            <a:ext cx="255150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How the If Node Works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052632" y="6196251"/>
            <a:ext cx="5954435" cy="1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If Node reads the 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field from the incoming data object and evaluates the condition. Based on the result, the workflow branches into two separate paths — each with its own email template and alert priority.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8307" y="5569148"/>
            <a:ext cx="6453068" cy="2060853"/>
          </a:xfrm>
          <a:prstGeom prst="roundRect">
            <a:avLst>
              <a:gd name="adj" fmla="val 5324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85447" y="5569148"/>
            <a:ext cx="91440" cy="2060853"/>
          </a:xfrm>
          <a:prstGeom prst="roundRect">
            <a:avLst>
              <a:gd name="adj" fmla="val 88314"/>
            </a:avLst>
          </a:prstGeom>
          <a:solidFill>
            <a:srgbClr val="5E4CE6"/>
          </a:solidFill>
          <a:ln/>
        </p:spPr>
      </p:sp>
      <p:sp>
        <p:nvSpPr>
          <p:cNvPr id="20" name="Text 18"/>
          <p:cNvSpPr/>
          <p:nvPr/>
        </p:nvSpPr>
        <p:spPr>
          <a:xfrm>
            <a:off x="7691914" y="5784175"/>
            <a:ext cx="3148727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Why This Matters in Finance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691914" y="6196251"/>
            <a:ext cx="5954435" cy="121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Threshold-based classification is a standard internal control in corporate finance. Automating this rule ensures consistent enforcement, eliminates subjective judgment, and creates an auditable trail of every classification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0568" y="464463"/>
            <a:ext cx="1662351" cy="242411"/>
          </a:xfrm>
          <a:prstGeom prst="roundRect">
            <a:avLst>
              <a:gd name="adj" fmla="val 19773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1776055" y="507206"/>
            <a:ext cx="1491377" cy="156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 DEMONSTRATION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90568" y="747832"/>
            <a:ext cx="6278166" cy="4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Automated Email Notification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90568" y="1347192"/>
            <a:ext cx="11249144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Once the workflow processes an expense, the finance team receives an instant, formatted email alert. This eliminates the need to manually check spreadsheets and ensures no expense goes unnoticed.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0568" y="1957149"/>
            <a:ext cx="2938939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Sample Email Alert — High Expense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04524" y="2295287"/>
            <a:ext cx="5816441" cy="20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Subject: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⚠️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High Expense Alert — ₹7,200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04524" y="2591276"/>
            <a:ext cx="5816441" cy="117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Employee: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Arjun Mehta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Department: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Marketing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Expense Type: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Client Entertainment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Amount: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₹7,200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Category: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High Expense (&gt; ₹5,000)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Action Required: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Please review and approve.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0568" y="2295287"/>
            <a:ext cx="15240" cy="1472565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0" name="Text 8"/>
          <p:cNvSpPr/>
          <p:nvPr/>
        </p:nvSpPr>
        <p:spPr>
          <a:xfrm>
            <a:off x="1690568" y="3883104"/>
            <a:ext cx="2106930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What Each Output Shows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0568" y="4208502"/>
            <a:ext cx="6030397" cy="891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Form Input: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Employee-submitted data captured in real time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Sheet Data: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Full audit trail with timestamps in Google Sheets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n8n Workflow: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Visual execution log showing each step's status</a:t>
            </a:r>
            <a:endParaRPr lang="en-US" sz="11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Email Alert: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Instant notification with expense classification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486" y="1969889"/>
            <a:ext cx="4870728" cy="48707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690568" y="7071122"/>
            <a:ext cx="11249144" cy="693896"/>
          </a:xfrm>
          <a:prstGeom prst="roundRect">
            <a:avLst>
              <a:gd name="adj" fmla="val 8635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05" y="7269242"/>
            <a:ext cx="178237" cy="1426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54079" y="7209234"/>
            <a:ext cx="10642997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Benefit to Finance Team: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Automated alerts eliminate manual monitoring. Finance staff are proactively notified of every submission — especially high-value expenses requiring immediate attention — reducing response time from days to seconds.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404098"/>
            <a:ext cx="3488769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Power BI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846" y="1036320"/>
            <a:ext cx="11004590" cy="6188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2846" y="7334964"/>
            <a:ext cx="11004590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812846" y="7635359"/>
            <a:ext cx="11004590" cy="190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228" y="691277"/>
            <a:ext cx="1946791" cy="305038"/>
          </a:xfrm>
          <a:prstGeom prst="roundRect">
            <a:avLst>
              <a:gd name="adj" fmla="val 18788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784503" y="742355"/>
            <a:ext cx="174224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BENEFITS &amp; 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2228" y="1054894"/>
            <a:ext cx="6236851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Business Impact &amp; Future Scope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82228" y="1807607"/>
            <a:ext cx="13265944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automation delivers measurable improvements across every dimension of expense management — from processing speed to financial control. The system is also designed to scale as organizational needs grow.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2228" y="2479834"/>
            <a:ext cx="4324231" cy="1876187"/>
          </a:xfrm>
          <a:prstGeom prst="roundRect">
            <a:avLst>
              <a:gd name="adj" fmla="val 38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0346" y="2657951"/>
            <a:ext cx="511612" cy="511612"/>
          </a:xfrm>
          <a:prstGeom prst="roundRect">
            <a:avLst>
              <a:gd name="adj" fmla="val 17871132"/>
            </a:avLst>
          </a:prstGeom>
          <a:solidFill>
            <a:srgbClr val="5E4C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1078" y="2798683"/>
            <a:ext cx="230148" cy="2301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0346" y="3316129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Faster Processing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0346" y="3670459"/>
            <a:ext cx="3967996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Expenses are categorized and communicated in seconds, not hours or days.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53025" y="2479834"/>
            <a:ext cx="4324231" cy="1876187"/>
          </a:xfrm>
          <a:prstGeom prst="roundRect">
            <a:avLst>
              <a:gd name="adj" fmla="val 38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31143" y="2657951"/>
            <a:ext cx="511612" cy="511612"/>
          </a:xfrm>
          <a:prstGeom prst="roundRect">
            <a:avLst>
              <a:gd name="adj" fmla="val 17871132"/>
            </a:avLst>
          </a:prstGeom>
          <a:solidFill>
            <a:srgbClr val="5E4CE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1874" y="2798683"/>
            <a:ext cx="230148" cy="2301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1143" y="3316129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Real-Time Tracking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5331143" y="3670459"/>
            <a:ext cx="3967996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Finance teams gain instant visibility into all submissions via the centralized Google Sheet.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623822" y="2479834"/>
            <a:ext cx="4324231" cy="1876187"/>
          </a:xfrm>
          <a:prstGeom prst="roundRect">
            <a:avLst>
              <a:gd name="adj" fmla="val 38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801939" y="2657951"/>
            <a:ext cx="511612" cy="511612"/>
          </a:xfrm>
          <a:prstGeom prst="roundRect">
            <a:avLst>
              <a:gd name="adj" fmla="val 17871132"/>
            </a:avLst>
          </a:prstGeom>
          <a:solidFill>
            <a:srgbClr val="5E4C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2671" y="2798683"/>
            <a:ext cx="230148" cy="2301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01939" y="3316129"/>
            <a:ext cx="2210991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Reduced Manual Work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9801939" y="3670459"/>
            <a:ext cx="3967996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Eliminates repetitive data entry, freeing staff for higher-value analytical tasks.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2228" y="4502587"/>
            <a:ext cx="6559629" cy="1622465"/>
          </a:xfrm>
          <a:prstGeom prst="roundRect">
            <a:avLst>
              <a:gd name="adj" fmla="val 441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60346" y="4680704"/>
            <a:ext cx="511612" cy="511612"/>
          </a:xfrm>
          <a:prstGeom prst="roundRect">
            <a:avLst>
              <a:gd name="adj" fmla="val 17871132"/>
            </a:avLst>
          </a:prstGeom>
          <a:solidFill>
            <a:srgbClr val="5E4CE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078" y="4821436"/>
            <a:ext cx="230148" cy="2301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0346" y="5338882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Better Control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60346" y="5693212"/>
            <a:ext cx="6203394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Threshold-based classification enforces consistent finance policies automatically.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388423" y="4502587"/>
            <a:ext cx="6559629" cy="1622465"/>
          </a:xfrm>
          <a:prstGeom prst="roundRect">
            <a:avLst>
              <a:gd name="adj" fmla="val 441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566541" y="4680704"/>
            <a:ext cx="511612" cy="511612"/>
          </a:xfrm>
          <a:prstGeom prst="roundRect">
            <a:avLst>
              <a:gd name="adj" fmla="val 17871132"/>
            </a:avLst>
          </a:prstGeom>
          <a:solidFill>
            <a:srgbClr val="5E4CE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7273" y="4821436"/>
            <a:ext cx="230148" cy="2301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66541" y="5338882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Improved Efficiency</a:t>
            </a:r>
            <a:endParaRPr lang="en-US" sz="1650" dirty="0"/>
          </a:p>
        </p:txBody>
      </p:sp>
      <p:sp>
        <p:nvSpPr>
          <p:cNvPr id="30" name="Text 23"/>
          <p:cNvSpPr/>
          <p:nvPr/>
        </p:nvSpPr>
        <p:spPr>
          <a:xfrm>
            <a:off x="7566541" y="5693212"/>
            <a:ext cx="6203394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End-to-end automation reduces processing costs and improves team productivity.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82228" y="6289834"/>
            <a:ext cx="13265944" cy="1248489"/>
          </a:xfrm>
          <a:prstGeom prst="roundRect">
            <a:avLst>
              <a:gd name="adj" fmla="val 8789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59368" y="6289834"/>
            <a:ext cx="91440" cy="1248489"/>
          </a:xfrm>
          <a:prstGeom prst="roundRect">
            <a:avLst>
              <a:gd name="adj" fmla="val 78343"/>
            </a:avLst>
          </a:prstGeom>
          <a:solidFill>
            <a:srgbClr val="5E4CE6"/>
          </a:solidFill>
          <a:ln/>
        </p:spPr>
      </p:sp>
      <p:sp>
        <p:nvSpPr>
          <p:cNvPr id="33" name="Text 26"/>
          <p:cNvSpPr/>
          <p:nvPr/>
        </p:nvSpPr>
        <p:spPr>
          <a:xfrm>
            <a:off x="944166" y="6483191"/>
            <a:ext cx="260330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Conclusion &amp; Future Scope</a:t>
            </a:r>
            <a:endParaRPr lang="en-US" sz="1650" dirty="0"/>
          </a:p>
        </p:txBody>
      </p:sp>
      <p:sp>
        <p:nvSpPr>
          <p:cNvPr id="34" name="Text 27"/>
          <p:cNvSpPr/>
          <p:nvPr/>
        </p:nvSpPr>
        <p:spPr>
          <a:xfrm>
            <a:off x="944166" y="6837521"/>
            <a:ext cx="12810649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demonstrates that lightweight, no-code automation can solve real business problems effectively. The system is production-ready and can be extended with approval workflows, multi-level thresholds, integration with accounting software (e.g., Tally, Zoho Books), and a Power BI dashboard for executive-level expense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228" y="506135"/>
            <a:ext cx="11186755" cy="7217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2026-04-30T06:24:03Z</dcterms:created>
  <dcterms:modified xsi:type="dcterms:W3CDTF">2026-04-30T06:24:03Z</dcterms:modified>
</cp:coreProperties>
</file>